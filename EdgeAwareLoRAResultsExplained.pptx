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3F17BF-72A5-4EB7-8463-BDDC76E1A384}">
  <a:tblStyle styleId="{393F17BF-72A5-4EB7-8463-BDDC76E1A38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EF6"/>
          </a:solidFill>
        </a:fill>
      </a:tcStyle>
    </a:wholeTbl>
    <a:band1H>
      <a:tcTxStyle b="off" i="off"/>
      <a:tcStyle>
        <a:fill>
          <a:solidFill>
            <a:srgbClr val="D3DBE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3DBE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698FCE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698FCE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698FCE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698FCE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Sans-italic.fntdata"/><Relationship Id="rId14" Type="http://schemas.openxmlformats.org/officeDocument/2006/relationships/font" Target="fonts/MerriweatherSans-bold.fntdata"/><Relationship Id="rId16" Type="http://schemas.openxmlformats.org/officeDocument/2006/relationships/font" Target="fonts/Merriweather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Constraints: Limited Computation and Memory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Constraints: Personalized and Decentralized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Approach -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Federated Learning: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Incapable with SOTA LLMs (large!) due to its nature of deploying the entire model on edge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Statement: </a:t>
            </a: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enable efficient fine-tuning on edge devices without degrading overall performance?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Constraints: Limited Computation and Memory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Constraints: Personalized and Decentralized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Approach -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Federated Learning: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Incapable with SOTA LLMs (large!) due to its nature of deploying the entire model on edge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"/>
              <a:buChar char="•"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Statement: </a:t>
            </a: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enable efficient fine-tuning on edge devices without degrading overall performance?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Incorporation of Mixture of Experts (MoE) on Edge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Detached LoRA Design: Allows rank shrinkage in/out the edge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SOTA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Lightweight on Edge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 Privacy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0"/>
          </a:scheme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5650625"/>
            <a:ext cx="12192000" cy="1411449"/>
          </a:xfrm>
          <a:prstGeom prst="rect">
            <a:avLst/>
          </a:prstGeom>
          <a:gradFill>
            <a:gsLst>
              <a:gs pos="0">
                <a:srgbClr val="F5F7FC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C5D3ED"/>
              </a:gs>
            </a:gsLst>
            <a:lin ang="5400000" scaled="0"/>
          </a:gradFill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1871000" y="1661517"/>
            <a:ext cx="92361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 sz="6600"/>
              <a:t>Lightweight yet Powerful: Edge-Cloud Cooperative LoRA-MoE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987499" y="4649562"/>
            <a:ext cx="90030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Merriweather Sans"/>
                <a:ea typeface="Merriweather Sans"/>
                <a:cs typeface="Merriweather Sans"/>
                <a:sym typeface="Merriweather Sans"/>
              </a:rPr>
              <a:t>F</a:t>
            </a:r>
            <a:r>
              <a:rPr b="0" i="0" lang="en-US">
                <a:latin typeface="Merriweather Sans"/>
                <a:ea typeface="Merriweather Sans"/>
                <a:cs typeface="Merriweather Sans"/>
                <a:sym typeface="Merriweather Sans"/>
              </a:rPr>
              <a:t>aculty Mentor: Prof. Ian G. Harris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Merriweather Sans"/>
                <a:ea typeface="Merriweather Sans"/>
                <a:cs typeface="Merriweather Sans"/>
                <a:sym typeface="Merriweather Sans"/>
              </a:rPr>
              <a:t>By: Monish N 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9275" y="7293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2950" y="1119900"/>
            <a:ext cx="1839700" cy="18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70500" y="598750"/>
            <a:ext cx="7715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3982" y="-5"/>
            <a:ext cx="1631500" cy="16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225100" y="1012475"/>
            <a:ext cx="1741800" cy="468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05A8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 flipH="1" rot="10800000">
            <a:off x="990725" y="3124250"/>
            <a:ext cx="9731700" cy="4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9175" y="3951546"/>
            <a:ext cx="1382475" cy="13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5125" y="3690246"/>
            <a:ext cx="1741800" cy="17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87900" y="3880784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786250" y="1415138"/>
            <a:ext cx="1915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Cloud/Server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884218" y="4038613"/>
            <a:ext cx="1915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Devices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940624" y="1911875"/>
            <a:ext cx="978300" cy="1631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 rot="10800000">
            <a:off x="5708463" y="2186750"/>
            <a:ext cx="1034100" cy="1687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6950" y="2495201"/>
            <a:ext cx="771525" cy="8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1125" y="1510750"/>
            <a:ext cx="22955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 Fine-Tuning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75738" t="0"/>
          <a:stretch/>
        </p:blipFill>
        <p:spPr>
          <a:xfrm>
            <a:off x="1186550" y="1361263"/>
            <a:ext cx="1410450" cy="22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70850" y="4049475"/>
            <a:ext cx="27663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Fine-Tuning: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100% Trainable parameters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and Resource Consuming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441375" y="4005925"/>
            <a:ext cx="30699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 Matrices: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&lt;1% Trainable parameters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and Resource efficient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edge-friendly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title="Routing System.png"/>
          <p:cNvPicPr preferRelativeResize="0"/>
          <p:nvPr/>
        </p:nvPicPr>
        <p:blipFill rotWithShape="1">
          <a:blip r:embed="rId5">
            <a:alphaModFix/>
          </a:blip>
          <a:srcRect b="21718" l="23296" r="23184" t="19630"/>
          <a:stretch/>
        </p:blipFill>
        <p:spPr>
          <a:xfrm>
            <a:off x="8330926" y="1653437"/>
            <a:ext cx="2766326" cy="1705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151950" y="4049475"/>
            <a:ext cx="35721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Structure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&lt;0.1% Trainable parameters on edge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and Resource efficient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Edge-friendly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5"/>
          <p:cNvCxnSpPr/>
          <p:nvPr/>
        </p:nvCxnSpPr>
        <p:spPr>
          <a:xfrm>
            <a:off x="3918850" y="1066804"/>
            <a:ext cx="32700" cy="399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7815263" y="1066804"/>
            <a:ext cx="32700" cy="399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 Edge-Aware LoRA: Structure</a:t>
            </a:r>
            <a:endParaRPr/>
          </a:p>
        </p:txBody>
      </p:sp>
      <p:pic>
        <p:nvPicPr>
          <p:cNvPr id="124" name="Google Shape;124;p16" title="Routing System.png"/>
          <p:cNvPicPr preferRelativeResize="0"/>
          <p:nvPr/>
        </p:nvPicPr>
        <p:blipFill rotWithShape="1">
          <a:blip r:embed="rId3">
            <a:alphaModFix/>
          </a:blip>
          <a:srcRect b="21718" l="23296" r="23184" t="19630"/>
          <a:stretch/>
        </p:blipFill>
        <p:spPr>
          <a:xfrm>
            <a:off x="2481925" y="1262750"/>
            <a:ext cx="7141051" cy="440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title="Routing System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1" y="1467200"/>
            <a:ext cx="14478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title="Routing System (2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0175" y="367775"/>
            <a:ext cx="1534900" cy="118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title="Routing System (3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675" y="3847724"/>
            <a:ext cx="1534900" cy="118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title="Routing System (4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3325" y="3979150"/>
            <a:ext cx="1632875" cy="12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title="Routing System (5)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76100" y="2023988"/>
            <a:ext cx="1632875" cy="125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578533" y="31566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Results and Evidence</a:t>
            </a:r>
            <a:endParaRPr/>
          </a:p>
        </p:txBody>
      </p:sp>
      <p:graphicFrame>
        <p:nvGraphicFramePr>
          <p:cNvPr id="135" name="Google Shape;135;p17"/>
          <p:cNvGraphicFramePr/>
          <p:nvPr/>
        </p:nvGraphicFramePr>
        <p:xfrm>
          <a:off x="807949" y="1690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{393F17BF-72A5-4EB7-8463-BDDC76E1A384}</a:tableStyleId>
              </a:tblPr>
              <a:tblGrid>
                <a:gridCol w="1404825"/>
                <a:gridCol w="1043775"/>
                <a:gridCol w="863075"/>
                <a:gridCol w="1016375"/>
                <a:gridCol w="1625800"/>
                <a:gridCol w="1242500"/>
                <a:gridCol w="1213950"/>
                <a:gridCol w="1119800"/>
                <a:gridCol w="1046000"/>
              </a:tblGrid>
              <a:tr h="65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Models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Epochs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Rank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Params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Accuracy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(Best Epoch)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Accuracy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(Median)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Precision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Recall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F1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65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LoRA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 = 8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0.22%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sng" cap="none" strike="noStrike"/>
                        <a:t>0.9</a:t>
                      </a:r>
                      <a:r>
                        <a:rPr lang="en-US" sz="1800" u="sng" cap="none" strike="noStrike"/>
                        <a:t>070</a:t>
                      </a:r>
                      <a:endParaRPr b="0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0.9059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0.9068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0.9061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0.9063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</a:tr>
              <a:tr h="65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DetachedLoRA – h64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</a:t>
                      </a:r>
                      <a:r>
                        <a:rPr lang="en-US" sz="1800" u="none" cap="none" strike="noStrike"/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0.9064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cap="none" strike="noStrike"/>
                        <a:t>0.9057</a:t>
                      </a:r>
                      <a:endParaRPr sz="1800" u="sng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cap="none" strike="noStrike"/>
                        <a:t>0.9058</a:t>
                      </a:r>
                      <a:endParaRPr sz="1800" u="sng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cap="none" strike="noStrike"/>
                        <a:t>0.9051</a:t>
                      </a:r>
                      <a:endParaRPr b="0" sz="1800" u="sng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cap="none" strike="noStrike"/>
                        <a:t>0.9053</a:t>
                      </a:r>
                      <a:endParaRPr sz="1800" u="sng" cap="none" strike="noStrike"/>
                    </a:p>
                  </a:txBody>
                  <a:tcPr marT="45725" marB="45725" marR="91450" marL="91450" anchor="ctr"/>
                </a:tc>
              </a:tr>
              <a:tr h="65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EdgeAwareLoRA – h32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r/k = 4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0.18%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0.9081</a:t>
                      </a:r>
                      <a:endParaRPr b="1" sz="1800" u="sng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0.9048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0.9048</a:t>
                      </a:r>
                      <a:endParaRPr sz="1800" u="sng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0.9041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0.9043</a:t>
                      </a:r>
                      <a:endParaRPr sz="1800" u="sng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36" name="Google Shape;136;p17"/>
          <p:cNvSpPr txBox="1"/>
          <p:nvPr/>
        </p:nvSpPr>
        <p:spPr>
          <a:xfrm>
            <a:off x="435811" y="4621833"/>
            <a:ext cx="1085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MNLI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Model: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RoBERTa Large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experiments has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seeds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(42, 123, 7, 99, 101)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Makes computation using LLMs on </a:t>
            </a:r>
            <a:r>
              <a:rPr b="1" lang="en-US"/>
              <a:t>edge devices</a:t>
            </a:r>
            <a:r>
              <a:rPr lang="en-US"/>
              <a:t> possible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Addresses the challenges of </a:t>
            </a:r>
            <a:r>
              <a:rPr b="1" lang="en-US"/>
              <a:t>limited computation</a:t>
            </a:r>
            <a:r>
              <a:rPr lang="en-US"/>
              <a:t> and </a:t>
            </a:r>
            <a:r>
              <a:rPr b="1" lang="en-US"/>
              <a:t>efficient memory</a:t>
            </a:r>
            <a:r>
              <a:rPr lang="en-US"/>
              <a:t> usage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Enables usage </a:t>
            </a:r>
            <a:r>
              <a:rPr b="1" lang="en-US"/>
              <a:t>personalized data</a:t>
            </a:r>
            <a:r>
              <a:rPr lang="en-US"/>
              <a:t> for training while preserving </a:t>
            </a:r>
            <a:r>
              <a:rPr b="1" lang="en-US"/>
              <a:t>weight privacy</a:t>
            </a:r>
            <a:endParaRPr b="1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Achieves </a:t>
            </a:r>
            <a:r>
              <a:rPr b="1" lang="en-US"/>
              <a:t>State of the Art (SOTA)</a:t>
            </a:r>
            <a:r>
              <a:rPr lang="en-US"/>
              <a:t> performance and metrics </a:t>
            </a:r>
            <a:r>
              <a:rPr b="1" lang="en-US"/>
              <a:t>similar or better</a:t>
            </a:r>
            <a:r>
              <a:rPr lang="en-US"/>
              <a:t> to existing works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ctrTitle"/>
          </p:nvPr>
        </p:nvSpPr>
        <p:spPr>
          <a:xfrm>
            <a:off x="1871000" y="1661517"/>
            <a:ext cx="92361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CInspir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